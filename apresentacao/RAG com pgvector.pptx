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capítulo: entender como o projeto implementa um fluxo de RAG usando documentos de diferentes clientes. Cada cliente possui contrato de seguro, aviso de sinistro e relatório de vistoria. O ponto mais importante é o isolamento dos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significa Retrieval-Augmented Generation, ou geração aumentada por recuperação de informações. A ideia é combinar duas etapas: recuperação (encontrar informações relevantes) e geração (usar essas informações para produzir a resposta). No projeto, a recuperação acontece com embeddings e pgvector.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PDF não vira um único embedding. Primeiro o conteúdo é dividido em partes menores, os chunks. No projeto, o chunk é o TextSegment do LangChain4j, com texto, ordem, embedding e dados de origem (document_id e client_id).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embedding transforma um texto em números. Textos semanticamente relacionados geram vetores próximos, que podem ser comparados por similaridade. O exemplo: "O valor da franquia é R$ 8.000" passa pelo modelo de embedding e vira um vetor. O projeto usa text-embedding-3-small com 768 dimensões. O mapa de pontos é apenas uma ilustração da ideia de proximidade.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usa PostgreSQL com pgvector, que permite armazenar e consultar vetores dentro do próprio banco. A estrutura: CLIENT tem N DOCUMENT, e DOCUMENT tem N DOCUMENT_CHUNK. O embedding fica na tabela DOCUMENT_CHUNK como VECTOR(768).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vira embedding; o pgvector compara o vetor da pergunta com os embeddings armazenados, aplicando a condição client_id igual ao cliente autorizado. Conceitualmente: SELECT embedding_id, text FROM document_chunk WHERE client_id = :clientId ORDER BY embedding &lt;=&gt; :queryEmbedding LIMIT 5. Ou seja: similaridade mais filtro do cliente. O índice HNSW, com distância de cosseno, deixa a busca mais eficiente. O diagrama é só uma ilustração.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de ingestão definido no README: PDF, extração do texto, chunking, embedding, e gravação em document_chunk no PostgreSQL com pgvector. Cada chunk é salvo com os dados de origem, document_id e client_id.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de consulta: o Cliente A faz a pergunta; o SearchController recebe; o SearchService gera o embedding da pergunta, aplica o filtro client_id igual a A, consulta o pgvector, obtém os Top-K chunks e retorna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das perguntas propostas pelo projeto: "O sinistro pode ser considerado perda total segundo as regras da apólice?" É interessante porque a informação está espalhada: o contrato traz o percentual necessário para caracterizar perda total, a vistoria traz o custo estimado do reparo e o valor do veículo. O sistema recupera essas informações, compara os valores e produz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Backend: Java 21, Spring Boot, Maven, Spring Web e Spring Data JPA. IA e RAG: LangChain4j, OpenAI, text-embedding-3-small, gpt-4o-mini e PgVectorEmbeddingStore. Banco: PostgreSQL com pgvector. Infraestrutura: Docker e Docker Compose. Testes: JUnit e Mockito.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1137766"/>
            <a:ext cx="10566436" cy="502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945425"/>
            <a:ext cx="10566418" cy="4099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1137766"/>
            <a:ext cx="10566436" cy="502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945425"/>
            <a:ext cx="10566418" cy="4099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2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RAG COM POSTGRESQL + PGVECTOR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150486"/>
            <a:ext cx="10883429" cy="640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2" y="1993665"/>
            <a:ext cx="9810750" cy="700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Neste capítulo, vamos entender como o projeto implementa um fluxo de RAG (Retrieval-Augmented Generation) usando documentos de diferentes clientes.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782" y="2897819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cliente possui documentos como: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5957" y="3251416"/>
            <a:ext cx="3414171" cy="619810"/>
          </a:xfrm>
          <a:prstGeom prst="roundRect">
            <a:avLst>
              <a:gd name="adj" fmla="val 13831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  <p:txBody>
          <a:bodyPr wrap="square" lIns="180618" tIns="142590" rIns="90536" bIns="117118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Contrato de seguro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8824" y="3251416"/>
            <a:ext cx="3414261" cy="619810"/>
          </a:xfrm>
          <a:prstGeom prst="roundRect">
            <a:avLst>
              <a:gd name="adj" fmla="val 13831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  <p:txBody>
          <a:bodyPr wrap="square" lIns="180617" tIns="142590" rIns="90533" bIns="117118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Aviso de sinistro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61781" y="3251416"/>
            <a:ext cx="3414261" cy="619810"/>
          </a:xfrm>
          <a:prstGeom prst="roundRect">
            <a:avLst>
              <a:gd name="adj" fmla="val 13831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  <p:txBody>
          <a:bodyPr wrap="square" lIns="180617" tIns="142590" rIns="90533" bIns="117118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Relatório de vistoria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82" y="4102966"/>
            <a:ext cx="10883429" cy="272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documento → chunks → embeddings → PostgreSQL + pgvector → busca por similaridade → resposta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782" y="4579126"/>
            <a:ext cx="10566436" cy="975230"/>
          </a:xfrm>
          <a:prstGeom prst="roundRect">
            <a:avLst>
              <a:gd name="adj" fmla="val 10418"/>
            </a:avLst>
          </a:prstGeom>
          <a:solidFill>
            <a:srgbClr val="F5B544"/>
          </a:solidFill>
          <a:ln/>
        </p:spPr>
        <p:txBody>
          <a:bodyPr wrap="square" lIns="224242" tIns="160742" rIns="0" bIns="135342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ponto mais importante é o isolamento dos dados: uma pergunta feita pelo Cliente A não pode recuperar informações pertencentes ao Cliente B.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/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137769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que é RAG?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82" y="1894627"/>
            <a:ext cx="10883429" cy="33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RAG</a:t>
            </a:r>
            <a:r>
              <a:rPr lang="en-US" sz="18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significa </a:t>
            </a:r>
            <a:r>
              <a:rPr lang="en-US" sz="18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Retrieval-Augmented Generation</a:t>
            </a:r>
            <a:r>
              <a:rPr lang="en-US" sz="18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782" y="2291953"/>
            <a:ext cx="10883429" cy="608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 português, podemos entender como: geração aumentada por recuperação de informações. A ideia é combinar duas etapas: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782" y="3428008"/>
            <a:ext cx="1270000" cy="640051"/>
          </a:xfrm>
          <a:prstGeom prst="roundRect">
            <a:avLst>
              <a:gd name="adj" fmla="val 15874"/>
            </a:avLst>
          </a:prstGeom>
          <a:solidFill>
            <a:srgbClr val="0F1B2D"/>
          </a:solidFill>
          <a:ln/>
        </p:spPr>
        <p:txBody>
          <a:bodyPr wrap="square" lIns="97242" tIns="148042" rIns="97242" bIns="122606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Pergunta</a:t>
            </a:r>
            <a:endParaRPr lang="en-US" sz="16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-13" r="-13" t="0" b="0"/>
          <a:stretch/>
        </p:blipFill>
        <p:spPr>
          <a:xfrm>
            <a:off x="2184346" y="3646469"/>
            <a:ext cx="355564" cy="203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50999" y="3138343"/>
            <a:ext cx="3156130" cy="1219380"/>
          </a:xfrm>
          <a:prstGeom prst="roundRect">
            <a:avLst>
              <a:gd name="adj" fmla="val 7551"/>
            </a:avLst>
          </a:prstGeom>
          <a:solidFill>
            <a:srgbClr val="FBFAF6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61920" y="3336636"/>
            <a:ext cx="2816317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· RECUPERAÇÃO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861920" y="3631226"/>
            <a:ext cx="2816317" cy="553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encontrar informações relevantes</a:t>
            </a:r>
            <a:endParaRPr lang="en-US" sz="16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-13" r="-13" t="0" b="0"/>
          <a:stretch/>
        </p:blipFill>
        <p:spPr>
          <a:xfrm>
            <a:off x="5918218" y="3646469"/>
            <a:ext cx="355564" cy="2031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84871" y="3138343"/>
            <a:ext cx="3156130" cy="1219380"/>
          </a:xfrm>
          <a:prstGeom prst="roundRect">
            <a:avLst>
              <a:gd name="adj" fmla="val 7551"/>
            </a:avLst>
          </a:prstGeom>
          <a:solidFill>
            <a:srgbClr val="FBFAF6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95792" y="3336636"/>
            <a:ext cx="2816317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50" kern="0" dirty="0">
                <a:solidFill>
                  <a:srgbClr val="8A5A1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· GERAÇÃO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95792" y="3631226"/>
            <a:ext cx="2816317" cy="553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usar essas informações para produzir a resposta</a:t>
            </a:r>
            <a:endParaRPr lang="en-US" sz="16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-13" r="-13" t="0" b="0"/>
          <a:stretch/>
        </p:blipFill>
        <p:spPr>
          <a:xfrm>
            <a:off x="9652090" y="3646469"/>
            <a:ext cx="355564" cy="2031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09218" y="3428008"/>
            <a:ext cx="1270000" cy="640051"/>
          </a:xfrm>
          <a:prstGeom prst="roundRect">
            <a:avLst>
              <a:gd name="adj" fmla="val 15874"/>
            </a:avLst>
          </a:prstGeom>
          <a:solidFill>
            <a:srgbClr val="0F1B2D"/>
          </a:solidFill>
          <a:ln/>
        </p:spPr>
        <p:txBody>
          <a:bodyPr wrap="square" lIns="97242" tIns="148042" rIns="97242" bIns="122606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Resposta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12782" y="4621248"/>
            <a:ext cx="10566436" cy="629859"/>
          </a:xfrm>
          <a:prstGeom prst="roundRect">
            <a:avLst>
              <a:gd name="adj" fmla="val 16131"/>
            </a:avLst>
          </a:prstGeom>
          <a:solidFill>
            <a:srgbClr val="0F1B2D"/>
          </a:solidFill>
          <a:ln/>
        </p:spPr>
        <p:txBody>
          <a:bodyPr wrap="square" lIns="224242" tIns="148042" rIns="0" bIns="122606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projeto, a </a:t>
            </a:r>
            <a:r>
              <a:rPr lang="en-US" sz="1600" b="1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recuperação</a:t>
            </a:r>
            <a:r>
              <a:rPr lang="en-US" sz="16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acontece utilizando </a:t>
            </a: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embeddings + pgvector</a:t>
            </a:r>
            <a:r>
              <a:rPr lang="en-US" sz="16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/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137768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que acontece com um documento?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2" y="1869190"/>
            <a:ext cx="2159000" cy="2363571"/>
          </a:xfrm>
          <a:prstGeom prst="roundRect">
            <a:avLst>
              <a:gd name="adj" fmla="val 4118"/>
            </a:avLst>
          </a:prstGeom>
          <a:solidFill>
            <a:srgbClr val="F4F1EA"/>
          </a:solidFill>
          <a:ln/>
        </p:spPr>
      </p:sp>
      <p:sp>
        <p:nvSpPr>
          <p:cNvPr id="5" name="Text 3"/>
          <p:cNvSpPr/>
          <p:nvPr/>
        </p:nvSpPr>
        <p:spPr>
          <a:xfrm>
            <a:off x="990564" y="2046973"/>
            <a:ext cx="185753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contrato.pdf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5964" y="2392344"/>
            <a:ext cx="0" cy="329947"/>
          </a:xfrm>
          <a:prstGeom prst="line">
            <a:avLst/>
          </a:prstGeom>
          <a:noFill/>
          <a:ln w="508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5592" y="2392344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8" name="Shape 6"/>
          <p:cNvSpPr/>
          <p:nvPr/>
        </p:nvSpPr>
        <p:spPr>
          <a:xfrm>
            <a:off x="1125592" y="2519254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9" name="Shape 7"/>
          <p:cNvSpPr/>
          <p:nvPr/>
        </p:nvSpPr>
        <p:spPr>
          <a:xfrm>
            <a:off x="1125592" y="2646164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10" name="Shape 8"/>
          <p:cNvSpPr/>
          <p:nvPr/>
        </p:nvSpPr>
        <p:spPr>
          <a:xfrm>
            <a:off x="1015964" y="2836573"/>
            <a:ext cx="0" cy="329947"/>
          </a:xfrm>
          <a:prstGeom prst="line">
            <a:avLst/>
          </a:prstGeom>
          <a:noFill/>
          <a:ln w="50800">
            <a:solidFill>
              <a:srgbClr val="F5B5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5592" y="2836573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5592" y="2963483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5592" y="3090393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5964" y="3280803"/>
            <a:ext cx="0" cy="329947"/>
          </a:xfrm>
          <a:prstGeom prst="line">
            <a:avLst/>
          </a:prstGeom>
          <a:noFill/>
          <a:ln w="50800">
            <a:solidFill>
              <a:srgbClr val="7FB2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5592" y="3280803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5592" y="3407713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5592" y="3534623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64" y="3725032"/>
            <a:ext cx="0" cy="329947"/>
          </a:xfrm>
          <a:prstGeom prst="line">
            <a:avLst/>
          </a:prstGeom>
          <a:noFill/>
          <a:ln w="50800">
            <a:solidFill>
              <a:srgbClr val="F08A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5592" y="3725032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5592" y="3851942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5592" y="3978852"/>
            <a:ext cx="1668408" cy="76128"/>
          </a:xfrm>
          <a:prstGeom prst="roundRect">
            <a:avLst>
              <a:gd name="adj" fmla="val 50000"/>
            </a:avLst>
          </a:prstGeom>
          <a:solidFill>
            <a:srgbClr val="C9C3B3"/>
          </a:solidFill>
          <a:ln/>
        </p:spPr>
      </p:sp>
      <p:pic>
        <p:nvPicPr>
          <p:cNvPr id="22" name="Image 0" descr="arrow-right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3174910" y="2923977"/>
            <a:ext cx="457128" cy="2540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838341" y="2059980"/>
            <a:ext cx="3702176" cy="924322"/>
          </a:xfrm>
          <a:prstGeom prst="roundRect">
            <a:avLst>
              <a:gd name="adj" fmla="val 7900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31438" y="2227641"/>
            <a:ext cx="3415460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Chunk 1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4031438" y="2575537"/>
            <a:ext cx="3315981" cy="76128"/>
          </a:xfrm>
          <a:prstGeom prst="roundRect">
            <a:avLst>
              <a:gd name="adj" fmla="val 50000"/>
            </a:avLst>
          </a:prstGeom>
          <a:solidFill>
            <a:srgbClr val="3A4D6B"/>
          </a:solidFill>
          <a:ln/>
        </p:spPr>
      </p:sp>
      <p:sp>
        <p:nvSpPr>
          <p:cNvPr id="26" name="Shape 23"/>
          <p:cNvSpPr/>
          <p:nvPr/>
        </p:nvSpPr>
        <p:spPr>
          <a:xfrm>
            <a:off x="4031438" y="2740512"/>
            <a:ext cx="3315981" cy="76128"/>
          </a:xfrm>
          <a:prstGeom prst="roundRect">
            <a:avLst>
              <a:gd name="adj" fmla="val 50000"/>
            </a:avLst>
          </a:prstGeom>
          <a:solidFill>
            <a:srgbClr val="3A4D6B"/>
          </a:solidFill>
          <a:ln/>
        </p:spPr>
      </p:sp>
      <p:sp>
        <p:nvSpPr>
          <p:cNvPr id="27" name="Shape 24"/>
          <p:cNvSpPr/>
          <p:nvPr/>
        </p:nvSpPr>
        <p:spPr>
          <a:xfrm>
            <a:off x="7673866" y="2059980"/>
            <a:ext cx="3702176" cy="924322"/>
          </a:xfrm>
          <a:prstGeom prst="roundRect">
            <a:avLst>
              <a:gd name="adj" fmla="val 7900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66964" y="2227641"/>
            <a:ext cx="3415460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Chunk 2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7866964" y="2575537"/>
            <a:ext cx="3315981" cy="76128"/>
          </a:xfrm>
          <a:prstGeom prst="roundRect">
            <a:avLst>
              <a:gd name="adj" fmla="val 50000"/>
            </a:avLst>
          </a:prstGeom>
          <a:solidFill>
            <a:srgbClr val="3A4D6B"/>
          </a:solidFill>
          <a:ln/>
        </p:spPr>
      </p:sp>
      <p:sp>
        <p:nvSpPr>
          <p:cNvPr id="30" name="Shape 27"/>
          <p:cNvSpPr/>
          <p:nvPr/>
        </p:nvSpPr>
        <p:spPr>
          <a:xfrm>
            <a:off x="7866964" y="2740512"/>
            <a:ext cx="3315981" cy="76128"/>
          </a:xfrm>
          <a:prstGeom prst="roundRect">
            <a:avLst>
              <a:gd name="adj" fmla="val 50000"/>
            </a:avLst>
          </a:prstGeom>
          <a:solidFill>
            <a:srgbClr val="3A4D6B"/>
          </a:solidFill>
          <a:ln/>
        </p:spPr>
      </p:sp>
      <p:sp>
        <p:nvSpPr>
          <p:cNvPr id="31" name="Shape 28"/>
          <p:cNvSpPr/>
          <p:nvPr/>
        </p:nvSpPr>
        <p:spPr>
          <a:xfrm>
            <a:off x="3838341" y="3117652"/>
            <a:ext cx="3702176" cy="924322"/>
          </a:xfrm>
          <a:prstGeom prst="roundRect">
            <a:avLst>
              <a:gd name="adj" fmla="val 7900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31438" y="3285313"/>
            <a:ext cx="3415460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Chunk 3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4031438" y="3633209"/>
            <a:ext cx="3315981" cy="76128"/>
          </a:xfrm>
          <a:prstGeom prst="roundRect">
            <a:avLst>
              <a:gd name="adj" fmla="val 50000"/>
            </a:avLst>
          </a:prstGeom>
          <a:solidFill>
            <a:srgbClr val="3A4D6B"/>
          </a:solidFill>
          <a:ln/>
        </p:spPr>
      </p:sp>
      <p:sp>
        <p:nvSpPr>
          <p:cNvPr id="34" name="Shape 31"/>
          <p:cNvSpPr/>
          <p:nvPr/>
        </p:nvSpPr>
        <p:spPr>
          <a:xfrm>
            <a:off x="4031438" y="3798184"/>
            <a:ext cx="3315981" cy="76128"/>
          </a:xfrm>
          <a:prstGeom prst="roundRect">
            <a:avLst>
              <a:gd name="adj" fmla="val 50000"/>
            </a:avLst>
          </a:prstGeom>
          <a:solidFill>
            <a:srgbClr val="3A4D6B"/>
          </a:solidFill>
          <a:ln/>
        </p:spPr>
      </p:sp>
      <p:sp>
        <p:nvSpPr>
          <p:cNvPr id="35" name="Shape 32"/>
          <p:cNvSpPr/>
          <p:nvPr/>
        </p:nvSpPr>
        <p:spPr>
          <a:xfrm>
            <a:off x="7673866" y="3117652"/>
            <a:ext cx="3702176" cy="924322"/>
          </a:xfrm>
          <a:prstGeom prst="roundRect">
            <a:avLst>
              <a:gd name="adj" fmla="val 7900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66964" y="3285313"/>
            <a:ext cx="3415460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Chunk 4 ...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7866964" y="3633209"/>
            <a:ext cx="3315981" cy="76128"/>
          </a:xfrm>
          <a:prstGeom prst="roundRect">
            <a:avLst>
              <a:gd name="adj" fmla="val 50000"/>
            </a:avLst>
          </a:prstGeom>
          <a:solidFill>
            <a:srgbClr val="3A4D6B"/>
          </a:solidFill>
          <a:ln/>
        </p:spPr>
      </p:sp>
      <p:sp>
        <p:nvSpPr>
          <p:cNvPr id="38" name="Shape 35"/>
          <p:cNvSpPr/>
          <p:nvPr/>
        </p:nvSpPr>
        <p:spPr>
          <a:xfrm>
            <a:off x="7866964" y="3798184"/>
            <a:ext cx="3315981" cy="76128"/>
          </a:xfrm>
          <a:prstGeom prst="roundRect">
            <a:avLst>
              <a:gd name="adj" fmla="val 50000"/>
            </a:avLst>
          </a:prstGeom>
          <a:solidFill>
            <a:srgbClr val="3A4D6B"/>
          </a:solidFill>
          <a:ln/>
        </p:spPr>
      </p:sp>
      <p:sp>
        <p:nvSpPr>
          <p:cNvPr id="39" name="Text 36"/>
          <p:cNvSpPr/>
          <p:nvPr/>
        </p:nvSpPr>
        <p:spPr>
          <a:xfrm>
            <a:off x="812782" y="4461325"/>
            <a:ext cx="5258599" cy="77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Imagine um PDF de contrato. O sistema </a:t>
            </a:r>
            <a:r>
              <a:rPr lang="en-US" sz="14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não transforma o PDF inteiro em um único embedding</a:t>
            </a:r>
            <a:r>
              <a:rPr lang="en-US" sz="14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primeiro ele divide o conteúdo em partes menores, chamadas </a:t>
            </a:r>
            <a:r>
              <a:rPr lang="en-US" sz="14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chunks</a:t>
            </a:r>
            <a:r>
              <a:rPr lang="en-US" sz="14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273782" y="4461325"/>
            <a:ext cx="5258599" cy="77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projeto, o chunk é representado pelo </a:t>
            </a:r>
            <a:r>
              <a:rPr lang="en-US" sz="14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TextSegment</a:t>
            </a:r>
            <a:r>
              <a:rPr lang="en-US" sz="14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do LangChain4j. Ele contém o texto, a ordem, o embedding e os dados de origem, como document_id e client_id.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/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137768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que é embedding?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82" y="1981758"/>
            <a:ext cx="5598723" cy="608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 embedding transforma um </a:t>
            </a:r>
            <a:r>
              <a:rPr lang="en-US" sz="17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texto</a:t>
            </a:r>
            <a:r>
              <a:rPr lang="en-US" sz="17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em uma </a:t>
            </a:r>
            <a:r>
              <a:rPr lang="en-US" sz="17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representação numérica</a:t>
            </a:r>
            <a:r>
              <a:rPr lang="en-US" sz="17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2" y="2678905"/>
            <a:ext cx="5598723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ideia é que textos semanticamente relacionados produzam vetores que possam ser comparados por similaridade.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2" y="3290905"/>
            <a:ext cx="5598723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projeto utiliza o </a:t>
            </a: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text-embedding-3-small</a:t>
            </a: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configurado com </a:t>
            </a: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768 dimensões</a:t>
            </a: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53218" y="1869190"/>
            <a:ext cx="4826000" cy="2032000"/>
          </a:xfrm>
          <a:prstGeom prst="roundRect">
            <a:avLst>
              <a:gd name="adj" fmla="val 6250"/>
            </a:avLst>
          </a:prstGeom>
          <a:solidFill>
            <a:srgbClr val="0F1B2D"/>
          </a:solidFill>
          <a:ln/>
        </p:spPr>
      </p:sp>
      <p:pic>
        <p:nvPicPr>
          <p:cNvPr id="8" name="Image 0" descr="Mapa com pontos: um grupo de textos parecidos próximos entre si e um texto diferente isolad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53218" y="1869190"/>
            <a:ext cx="4826000" cy="203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07218" y="3380473"/>
            <a:ext cx="1962150" cy="45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textos relacionados ficam próximos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220218" y="2123190"/>
            <a:ext cx="1962150" cy="45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5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outro assunto, outra região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5957" y="4136627"/>
            <a:ext cx="3503738" cy="582919"/>
          </a:xfrm>
          <a:prstGeom prst="roundRect">
            <a:avLst>
              <a:gd name="adj" fmla="val 16885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  <p:txBody>
          <a:bodyPr wrap="square" lIns="164270" tIns="138870" rIns="70743" bIns="113398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“O valor da franquia é R$ 8.000”</a:t>
            </a:r>
            <a:endParaRPr lang="en-US" sz="15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-13" r="-13" t="0" b="0"/>
          <a:stretch/>
        </p:blipFill>
        <p:spPr>
          <a:xfrm>
            <a:off x="4449871" y="4326568"/>
            <a:ext cx="355564" cy="2031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2435" y="4147524"/>
            <a:ext cx="2338586" cy="561217"/>
          </a:xfrm>
          <a:prstGeom prst="roundRect">
            <a:avLst>
              <a:gd name="adj" fmla="val 18104"/>
            </a:avLst>
          </a:prstGeom>
          <a:solidFill>
            <a:srgbClr val="0F766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de embedding</a:t>
            </a:r>
            <a:endParaRPr lang="en-US" sz="1400" dirty="0"/>
          </a:p>
        </p:txBody>
      </p:sp>
      <p:pic>
        <p:nvPicPr>
          <p:cNvPr id="14" name="Image 2" descr="arrow-right">    </p:cNvPr>
          <p:cNvPicPr>
            <a:picLocks noChangeAspect="1"/>
          </p:cNvPicPr>
          <p:nvPr/>
        </p:nvPicPr>
        <p:blipFill>
          <a:blip r:embed="rId3"/>
          <a:srcRect l="-13" r="-13" t="0" b="0"/>
          <a:stretch/>
        </p:blipFill>
        <p:spPr>
          <a:xfrm>
            <a:off x="7398021" y="4326568"/>
            <a:ext cx="355564" cy="2031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80584" y="4129754"/>
            <a:ext cx="3498633" cy="596756"/>
          </a:xfrm>
          <a:prstGeom prst="roundRect">
            <a:avLst>
              <a:gd name="adj" fmla="val 17025"/>
            </a:avLst>
          </a:prstGeom>
          <a:solidFill>
            <a:srgbClr val="0F1B2D"/>
          </a:solidFill>
          <a:ln/>
        </p:spPr>
        <p:txBody>
          <a:bodyPr wrap="square" lIns="160742" tIns="135342" rIns="67213" bIns="10987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[0.12, -0.34, 0.87, ...]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/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137766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 os embeddings ficam?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82" y="1869191"/>
            <a:ext cx="10883429" cy="31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projeto utiliza </a:t>
            </a:r>
            <a:r>
              <a:rPr lang="en-US" sz="1700" b="1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+ pgvector</a:t>
            </a:r>
            <a:r>
              <a:rPr lang="en-US" sz="17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2" y="2236750"/>
            <a:ext cx="10883429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pgvector permite armazenar e consultar vetores dentro do próprio PostgreSQL. O embedding é guardado como </a:t>
            </a:r>
            <a:r>
              <a:rPr lang="en-US" sz="15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VECTOR(768)</a:t>
            </a:r>
            <a:r>
              <a:rPr lang="en-US" sz="15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junto do texto e do client_id.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9132" y="3690882"/>
            <a:ext cx="2391821" cy="1428858"/>
          </a:xfrm>
          <a:prstGeom prst="roundRect">
            <a:avLst>
              <a:gd name="adj" fmla="val 6666"/>
            </a:avLst>
          </a:prstGeom>
          <a:solidFill>
            <a:srgbClr val="1726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827" y="3873860"/>
            <a:ext cx="20604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4827" y="4176027"/>
            <a:ext cx="2060443" cy="482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4827" y="4722180"/>
            <a:ext cx="2060443" cy="239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cliente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05563" y="4169172"/>
            <a:ext cx="356646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B54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1:N</a:t>
            </a:r>
            <a:endParaRPr lang="en-US" sz="1300" dirty="0"/>
          </a:p>
        </p:txBody>
      </p:sp>
      <p:pic>
        <p:nvPicPr>
          <p:cNvPr id="11" name="Image 0" descr="arrow-right">    </p:cNvPr>
          <p:cNvPicPr>
            <a:picLocks noChangeAspect="1"/>
          </p:cNvPicPr>
          <p:nvPr/>
        </p:nvPicPr>
        <p:blipFill>
          <a:blip r:embed="rId1"/>
          <a:srcRect l="-13" r="-13" t="0" b="0"/>
          <a:stretch/>
        </p:blipFill>
        <p:spPr>
          <a:xfrm>
            <a:off x="3306149" y="4438324"/>
            <a:ext cx="355564" cy="2031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756909" y="3347855"/>
            <a:ext cx="3249252" cy="2114821"/>
          </a:xfrm>
          <a:prstGeom prst="roundRect">
            <a:avLst>
              <a:gd name="adj" fmla="val 4504"/>
            </a:avLst>
          </a:prstGeom>
          <a:solidFill>
            <a:srgbClr val="1726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52604" y="3530833"/>
            <a:ext cx="29435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DOCUMENT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952604" y="3833000"/>
            <a:ext cx="2943596" cy="1168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client_id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file_name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document_type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created_at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52604" y="5065117"/>
            <a:ext cx="2943596" cy="239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documento original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00770" y="4169172"/>
            <a:ext cx="356646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B54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1:N</a:t>
            </a:r>
            <a:endParaRPr lang="en-US" sz="1300" dirty="0"/>
          </a:p>
        </p:txBody>
      </p:sp>
      <p:pic>
        <p:nvPicPr>
          <p:cNvPr id="17" name="Image 1" descr="arrow-right">    </p:cNvPr>
          <p:cNvPicPr>
            <a:picLocks noChangeAspect="1"/>
          </p:cNvPicPr>
          <p:nvPr/>
        </p:nvPicPr>
        <p:blipFill>
          <a:blip r:embed="rId2"/>
          <a:srcRect l="-13" r="-13" t="0" b="0"/>
          <a:stretch/>
        </p:blipFill>
        <p:spPr>
          <a:xfrm>
            <a:off x="7101356" y="4438324"/>
            <a:ext cx="355564" cy="20312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552116" y="3004920"/>
            <a:ext cx="3820752" cy="2800783"/>
          </a:xfrm>
          <a:prstGeom prst="roundRect">
            <a:avLst>
              <a:gd name="adj" fmla="val 3401"/>
            </a:avLst>
          </a:prstGeom>
          <a:solidFill>
            <a:srgbClr val="17263D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47812" y="3187898"/>
            <a:ext cx="3532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5B54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DOCUMENT_CHUNK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747812" y="3490063"/>
            <a:ext cx="3532242" cy="1854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embedding_id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B54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embedding VECTOR(768)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text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client_id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document_id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chunk_index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document_type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file_name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747812" y="5408141"/>
            <a:ext cx="3532242" cy="239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trecho do documento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/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137766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 por similaridade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5957" y="1872363"/>
            <a:ext cx="5556304" cy="557483"/>
          </a:xfrm>
          <a:prstGeom prst="roundRect">
            <a:avLst>
              <a:gd name="adj" fmla="val 17655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  <p:txBody>
          <a:bodyPr wrap="square" lIns="164270" tIns="126170" rIns="9167" bIns="10066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“Qual é o valor da franquia da minha apólice?”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782" y="2547305"/>
            <a:ext cx="5729533" cy="77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pergunta vira um embedding. O pgvector compara esse vetor com os embeddings armazenados, mas só entre os chunks do cliente autorizado.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2" y="3408164"/>
            <a:ext cx="5562654" cy="1013384"/>
          </a:xfrm>
          <a:prstGeom prst="roundRect">
            <a:avLst>
              <a:gd name="adj" fmla="val 8773"/>
            </a:avLst>
          </a:prstGeom>
          <a:solidFill>
            <a:srgbClr val="0F1B2D"/>
          </a:solidFill>
          <a:ln/>
        </p:spPr>
        <p:txBody>
          <a:bodyPr wrap="square" lIns="164462" tIns="126362" rIns="9013" bIns="100854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WHERE client_id = :clientId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ORDER BY embedding &lt;=&gt; :queryEmbedding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LIMIT 5;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82" y="4535829"/>
            <a:ext cx="3192408" cy="444320"/>
          </a:xfrm>
          <a:prstGeom prst="roundRect">
            <a:avLst>
              <a:gd name="adj" fmla="val 50000"/>
            </a:avLst>
          </a:prstGeom>
          <a:solidFill>
            <a:srgbClr val="F5B54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Similaridade + filtro do cliente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80218" y="1869188"/>
            <a:ext cx="4699000" cy="2794000"/>
          </a:xfrm>
          <a:prstGeom prst="roundRect">
            <a:avLst>
              <a:gd name="adj" fmla="val 4545"/>
            </a:avLst>
          </a:prstGeom>
          <a:solidFill>
            <a:srgbClr val="0F1B2D"/>
          </a:solidFill>
          <a:ln/>
        </p:spPr>
      </p:sp>
      <p:pic>
        <p:nvPicPr>
          <p:cNvPr id="9" name="Image 0" descr="Vetor da pergunta no centro, com os chunks mais próximos dentro de um círculo e os mais distantes fora de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80218" y="1869188"/>
            <a:ext cx="4699000" cy="2794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69346" y="3304254"/>
            <a:ext cx="1320800" cy="20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pergunta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0" y="4358317"/>
            <a:ext cx="2158365" cy="20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Top-K: os mais próximos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13918" y="4358317"/>
            <a:ext cx="1638300" cy="20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mais distantes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782" y="5208712"/>
            <a:ext cx="1088342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 índice vetorial </a:t>
            </a: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HNSW</a:t>
            </a: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com distância de cosseno, torna essa busca mais eficiente.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/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137766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fluxo completo de ingestão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57" y="1897800"/>
            <a:ext cx="1779588" cy="2162752"/>
          </a:xfrm>
          <a:prstGeom prst="roundRect">
            <a:avLst>
              <a:gd name="adj" fmla="val 5531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</p:sp>
      <p:pic>
        <p:nvPicPr>
          <p:cNvPr id="5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0901" y="2090899"/>
            <a:ext cx="330128" cy="330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0901" y="2522590"/>
            <a:ext cx="152050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70901" y="2837563"/>
            <a:ext cx="1520500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PDF</a:t>
            </a:r>
            <a:endParaRPr lang="en-US" sz="16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2674847" y="2890239"/>
            <a:ext cx="254000" cy="17778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08150" y="1897800"/>
            <a:ext cx="1779678" cy="2162752"/>
          </a:xfrm>
          <a:prstGeom prst="roundRect">
            <a:avLst>
              <a:gd name="adj" fmla="val 5530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</p:sp>
      <p:pic>
        <p:nvPicPr>
          <p:cNvPr id="10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63094" y="2090899"/>
            <a:ext cx="330128" cy="3301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63094" y="2522590"/>
            <a:ext cx="152059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163094" y="2837563"/>
            <a:ext cx="1520590" cy="513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Extração do texto</a:t>
            </a:r>
            <a:endParaRPr lang="en-US" sz="1600" dirty="0"/>
          </a:p>
        </p:txBody>
      </p:sp>
      <p:pic>
        <p:nvPicPr>
          <p:cNvPr id="13" name="Image 3" descr="arrow-right">    </p:cNvPr>
          <p:cNvPicPr>
            <a:picLocks noChangeAspect="1"/>
          </p:cNvPicPr>
          <p:nvPr/>
        </p:nvPicPr>
        <p:blipFill>
          <a:blip r:embed="rId4"/>
          <a:srcRect l="-5" r="-5" t="0" b="0"/>
          <a:stretch/>
        </p:blipFill>
        <p:spPr>
          <a:xfrm>
            <a:off x="4867130" y="2890239"/>
            <a:ext cx="254000" cy="17778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200433" y="1897800"/>
            <a:ext cx="1779588" cy="2162752"/>
          </a:xfrm>
          <a:prstGeom prst="roundRect">
            <a:avLst>
              <a:gd name="adj" fmla="val 5531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</p:sp>
      <p:pic>
        <p:nvPicPr>
          <p:cNvPr id="15" name="Image 4" descr="Cod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55377" y="2090899"/>
            <a:ext cx="330128" cy="3301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55377" y="2522590"/>
            <a:ext cx="152050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355377" y="2837563"/>
            <a:ext cx="1520500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Chunking</a:t>
            </a:r>
            <a:endParaRPr lang="en-US" sz="1600" dirty="0"/>
          </a:p>
        </p:txBody>
      </p:sp>
      <p:pic>
        <p:nvPicPr>
          <p:cNvPr id="18" name="Image 5" descr="arrow-right">    </p:cNvPr>
          <p:cNvPicPr>
            <a:picLocks noChangeAspect="1"/>
          </p:cNvPicPr>
          <p:nvPr/>
        </p:nvPicPr>
        <p:blipFill>
          <a:blip r:embed="rId6"/>
          <a:srcRect l="-5" r="-5" t="0" b="0"/>
          <a:stretch/>
        </p:blipFill>
        <p:spPr>
          <a:xfrm>
            <a:off x="7059323" y="2890239"/>
            <a:ext cx="254000" cy="17778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392626" y="1897800"/>
            <a:ext cx="1779678" cy="2162752"/>
          </a:xfrm>
          <a:prstGeom prst="roundRect">
            <a:avLst>
              <a:gd name="adj" fmla="val 5530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</p:sp>
      <p:pic>
        <p:nvPicPr>
          <p:cNvPr id="20" name="Image 6" descr="Activity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547570" y="2090899"/>
            <a:ext cx="330128" cy="33012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547570" y="2522590"/>
            <a:ext cx="152059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7547570" y="2837563"/>
            <a:ext cx="1520590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Embedding</a:t>
            </a:r>
            <a:endParaRPr lang="en-US" sz="1600" dirty="0"/>
          </a:p>
        </p:txBody>
      </p:sp>
      <p:pic>
        <p:nvPicPr>
          <p:cNvPr id="23" name="Image 7" descr="arrow-right">    </p:cNvPr>
          <p:cNvPicPr>
            <a:picLocks noChangeAspect="1"/>
          </p:cNvPicPr>
          <p:nvPr/>
        </p:nvPicPr>
        <p:blipFill>
          <a:blip r:embed="rId8"/>
          <a:srcRect l="-5" r="-5" t="0" b="0"/>
          <a:stretch/>
        </p:blipFill>
        <p:spPr>
          <a:xfrm>
            <a:off x="9251607" y="2890239"/>
            <a:ext cx="254000" cy="17778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588085" y="1900975"/>
            <a:ext cx="1784783" cy="2156402"/>
          </a:xfrm>
          <a:prstGeom prst="roundRect">
            <a:avLst>
              <a:gd name="adj" fmla="val 5337"/>
            </a:avLst>
          </a:prstGeom>
          <a:solidFill>
            <a:srgbClr val="17263D"/>
          </a:solidFill>
          <a:ln w="12700">
            <a:solidFill>
              <a:srgbClr val="F5B544"/>
            </a:solidFill>
            <a:prstDash val="solid"/>
          </a:ln>
        </p:spPr>
      </p:sp>
      <p:pic>
        <p:nvPicPr>
          <p:cNvPr id="25" name="Image 8" descr="Databas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745626" y="2096672"/>
            <a:ext cx="330128" cy="33012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745626" y="2528364"/>
            <a:ext cx="152050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B54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9745626" y="2843337"/>
            <a:ext cx="1520500" cy="513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document_chunk</a:t>
            </a:r>
            <a:endParaRPr lang="en-US" sz="1600" dirty="0"/>
          </a:p>
        </p:txBody>
      </p:sp>
      <p:sp>
        <p:nvSpPr>
          <p:cNvPr id="28" name="Text 17"/>
          <p:cNvSpPr/>
          <p:nvPr/>
        </p:nvSpPr>
        <p:spPr>
          <a:xfrm>
            <a:off x="9745626" y="3432516"/>
            <a:ext cx="1520500" cy="45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+ pgvector</a:t>
            </a:r>
            <a:endParaRPr lang="en-US" sz="1300" dirty="0"/>
          </a:p>
        </p:txBody>
      </p:sp>
      <p:sp>
        <p:nvSpPr>
          <p:cNvPr id="29" name="Text 18"/>
          <p:cNvSpPr/>
          <p:nvPr/>
        </p:nvSpPr>
        <p:spPr>
          <a:xfrm>
            <a:off x="812782" y="4317727"/>
            <a:ext cx="10883429" cy="594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texto do PDF é extraído e dividido em chunks. Cada chunk recebe um embedding e é salvo na tabela </a:t>
            </a:r>
            <a:r>
              <a:rPr lang="en-US" sz="1600" b="1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document_chunk</a:t>
            </a:r>
            <a:r>
              <a:rPr lang="en-US" sz="16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sp>
        <p:nvSpPr>
          <p:cNvPr id="30" name="Text 19"/>
          <p:cNvSpPr/>
          <p:nvPr/>
        </p:nvSpPr>
        <p:spPr>
          <a:xfrm>
            <a:off x="812782" y="4988266"/>
            <a:ext cx="10883429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Junto com cada chunk ficam os dados de origem, como o document_id e o client_id, que permitem filtrar a busca por cliente depois.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4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/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137769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Fluxo de consulta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57" y="1872366"/>
            <a:ext cx="2330522" cy="1061695"/>
          </a:xfrm>
          <a:prstGeom prst="roundRect">
            <a:avLst>
              <a:gd name="adj" fmla="val 9271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337" y="2027312"/>
            <a:ext cx="202885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337" y="2291504"/>
            <a:ext cx="2028856" cy="513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A faz a pergunta</a:t>
            </a:r>
            <a:endParaRPr lang="en-US" sz="16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3225782" y="2314324"/>
            <a:ext cx="254000" cy="17778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59085" y="1872366"/>
            <a:ext cx="2330612" cy="1061695"/>
          </a:xfrm>
          <a:prstGeom prst="roundRect">
            <a:avLst>
              <a:gd name="adj" fmla="val 9271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39464" y="2027312"/>
            <a:ext cx="2028948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39464" y="2291504"/>
            <a:ext cx="2028948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SearchController</a:t>
            </a:r>
            <a:endParaRPr lang="en-US" sz="16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5969000" y="2314324"/>
            <a:ext cx="254000" cy="17778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2303" y="1872366"/>
            <a:ext cx="2330522" cy="1061695"/>
          </a:xfrm>
          <a:prstGeom prst="roundRect">
            <a:avLst>
              <a:gd name="adj" fmla="val 9271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82682" y="2027312"/>
            <a:ext cx="202885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82682" y="2291504"/>
            <a:ext cx="2028856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SearchService</a:t>
            </a:r>
            <a:endParaRPr lang="en-US" sz="16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-5" r="-5" t="0" b="0"/>
          <a:stretch/>
        </p:blipFill>
        <p:spPr>
          <a:xfrm>
            <a:off x="8712128" y="2314324"/>
            <a:ext cx="254000" cy="17778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5430" y="1872366"/>
            <a:ext cx="2330612" cy="1061695"/>
          </a:xfrm>
          <a:prstGeom prst="roundRect">
            <a:avLst>
              <a:gd name="adj" fmla="val 9271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225810" y="2027312"/>
            <a:ext cx="2028948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225810" y="2291504"/>
            <a:ext cx="2028948" cy="513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Embedding da pergunta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22307" y="3073763"/>
            <a:ext cx="2338027" cy="828278"/>
          </a:xfrm>
          <a:prstGeom prst="roundRect">
            <a:avLst>
              <a:gd name="adj" fmla="val 11116"/>
            </a:avLst>
          </a:prstGeom>
          <a:solidFill>
            <a:srgbClr val="FBF1DC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07882" y="3233902"/>
            <a:ext cx="202588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1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07882" y="3498093"/>
            <a:ext cx="2025883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Filtro client_id = A</a:t>
            </a:r>
            <a:endParaRPr lang="en-US" sz="1600" dirty="0"/>
          </a:p>
        </p:txBody>
      </p:sp>
      <p:pic>
        <p:nvPicPr>
          <p:cNvPr id="22" name="Image 3" descr="arrow-right">    </p:cNvPr>
          <p:cNvPicPr>
            <a:picLocks noChangeAspect="1"/>
          </p:cNvPicPr>
          <p:nvPr/>
        </p:nvPicPr>
        <p:blipFill>
          <a:blip r:embed="rId4"/>
          <a:srcRect l="-5" r="-5" t="0" b="0"/>
          <a:stretch/>
        </p:blipFill>
        <p:spPr>
          <a:xfrm>
            <a:off x="3245986" y="3398965"/>
            <a:ext cx="254000" cy="17778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579289" y="3067413"/>
            <a:ext cx="2327726" cy="840978"/>
          </a:xfrm>
          <a:prstGeom prst="roundRect">
            <a:avLst>
              <a:gd name="adj" fmla="val 11704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759669" y="3222355"/>
            <a:ext cx="202597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759669" y="3486547"/>
            <a:ext cx="2025976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pgvector</a:t>
            </a:r>
            <a:endParaRPr lang="en-US" sz="1600" dirty="0"/>
          </a:p>
        </p:txBody>
      </p:sp>
      <p:pic>
        <p:nvPicPr>
          <p:cNvPr id="26" name="Image 4" descr="arrow-right">    </p:cNvPr>
          <p:cNvPicPr>
            <a:picLocks noChangeAspect="1"/>
          </p:cNvPicPr>
          <p:nvPr/>
        </p:nvPicPr>
        <p:blipFill>
          <a:blip r:embed="rId5"/>
          <a:srcRect l="-5" r="-5" t="0" b="0"/>
          <a:stretch/>
        </p:blipFill>
        <p:spPr>
          <a:xfrm>
            <a:off x="5986318" y="3398965"/>
            <a:ext cx="254000" cy="17778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319621" y="3067413"/>
            <a:ext cx="2327636" cy="840978"/>
          </a:xfrm>
          <a:prstGeom prst="roundRect">
            <a:avLst>
              <a:gd name="adj" fmla="val 11704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500001" y="3222355"/>
            <a:ext cx="202588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500001" y="3486547"/>
            <a:ext cx="2025883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Top-K chunks</a:t>
            </a:r>
            <a:endParaRPr lang="en-US" sz="1600" dirty="0"/>
          </a:p>
        </p:txBody>
      </p:sp>
      <p:pic>
        <p:nvPicPr>
          <p:cNvPr id="30" name="Image 5" descr="arrow-right">    </p:cNvPr>
          <p:cNvPicPr>
            <a:picLocks noChangeAspect="1"/>
          </p:cNvPicPr>
          <p:nvPr/>
        </p:nvPicPr>
        <p:blipFill>
          <a:blip r:embed="rId6"/>
          <a:srcRect l="-5" r="-5" t="0" b="0"/>
          <a:stretch/>
        </p:blipFill>
        <p:spPr>
          <a:xfrm>
            <a:off x="8726560" y="3398965"/>
            <a:ext cx="254000" cy="17778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056688" y="3064238"/>
            <a:ext cx="2322531" cy="847328"/>
          </a:xfrm>
          <a:prstGeom prst="roundRect">
            <a:avLst>
              <a:gd name="adj" fmla="val 11991"/>
            </a:avLst>
          </a:prstGeom>
          <a:solidFill>
            <a:srgbClr val="0F1B2D"/>
          </a:solidFill>
          <a:ln/>
        </p:spPr>
      </p:sp>
      <p:sp>
        <p:nvSpPr>
          <p:cNvPr id="32" name="Text 24"/>
          <p:cNvSpPr/>
          <p:nvPr/>
        </p:nvSpPr>
        <p:spPr>
          <a:xfrm>
            <a:off x="9234469" y="3216582"/>
            <a:ext cx="202597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9234469" y="3480777"/>
            <a:ext cx="2025976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Resposta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12782" y="4140129"/>
            <a:ext cx="5258599" cy="82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</a:t>
            </a: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SearchService</a:t>
            </a:r>
            <a:r>
              <a:rPr lang="en-US" sz="15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recebe a pergunta, gera o embedding, aplica o filtro do cliente, executa a busca vetorial e retorna os chunks mais relevantes.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6273782" y="4140129"/>
            <a:ext cx="5258599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filtro do cliente entra antes do pgvector: só os chunks do cliente autorizado participam da busca.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09 /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137766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exemplo mais interessante do projeto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2" y="1869188"/>
            <a:ext cx="10566436" cy="1429742"/>
          </a:xfrm>
          <a:prstGeom prst="roundRect">
            <a:avLst>
              <a:gd name="adj" fmla="val 8883"/>
            </a:avLst>
          </a:prstGeom>
          <a:solidFill>
            <a:srgbClr val="F5B544"/>
          </a:solidFill>
          <a:ln/>
        </p:spPr>
      </p:sp>
      <p:sp>
        <p:nvSpPr>
          <p:cNvPr id="5" name="Text 3"/>
          <p:cNvSpPr/>
          <p:nvPr/>
        </p:nvSpPr>
        <p:spPr>
          <a:xfrm>
            <a:off x="1092128" y="2072314"/>
            <a:ext cx="1030797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“O sinistro pode ser considerado perda total segundo as regras da apólice?”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2128" y="2846946"/>
            <a:ext cx="1030797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informação está distribuída entre documentos diferentes.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957" y="3530668"/>
            <a:ext cx="3198145" cy="1507367"/>
          </a:xfrm>
          <a:prstGeom prst="roundRect">
            <a:avLst>
              <a:gd name="adj" fmla="val 6530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9055" y="3711048"/>
            <a:ext cx="2896308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9055" y="4046227"/>
            <a:ext cx="2896308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percentual necessário para caracterizar perda total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22016" y="3530668"/>
            <a:ext cx="3198145" cy="1507367"/>
          </a:xfrm>
          <a:prstGeom prst="roundRect">
            <a:avLst>
              <a:gd name="adj" fmla="val 6530"/>
            </a:avLst>
          </a:prstGeom>
          <a:solidFill>
            <a:srgbClr val="17263D"/>
          </a:solidFill>
          <a:ln w="6350">
            <a:solidFill>
              <a:srgbClr val="243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113" y="3711048"/>
            <a:ext cx="2896308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Vistoria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15113" y="4046227"/>
            <a:ext cx="2896308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estimado do reparo + valor do veículo</a:t>
            </a:r>
            <a:endParaRPr lang="en-US" sz="1400" dirty="0"/>
          </a:p>
        </p:txBody>
      </p:sp>
      <p:pic>
        <p:nvPicPr>
          <p:cNvPr id="13" name="Image 0" descr="arrow-right">    </p:cNvPr>
          <p:cNvPicPr>
            <a:picLocks noChangeAspect="1"/>
          </p:cNvPicPr>
          <p:nvPr/>
        </p:nvPicPr>
        <p:blipFill>
          <a:blip r:embed="rId1"/>
          <a:srcRect l="-13" r="-13" t="0" b="0"/>
          <a:stretch/>
        </p:blipFill>
        <p:spPr>
          <a:xfrm>
            <a:off x="7424900" y="4182790"/>
            <a:ext cx="355564" cy="2031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888377" y="3533843"/>
            <a:ext cx="3484490" cy="1501017"/>
          </a:xfrm>
          <a:prstGeom prst="roundRect">
            <a:avLst>
              <a:gd name="adj" fmla="val 6346"/>
            </a:avLst>
          </a:prstGeom>
          <a:solidFill>
            <a:srgbClr val="17263D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84073" y="3716821"/>
            <a:ext cx="3185892" cy="28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84073" y="4052001"/>
            <a:ext cx="3185892" cy="82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recuperar as informações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comparar os valores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produzir a resposta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/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137766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Tecnologias utilizadas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57" y="1872363"/>
            <a:ext cx="2981938" cy="2007610"/>
          </a:xfrm>
          <a:prstGeom prst="roundRect">
            <a:avLst>
              <a:gd name="adj" fmla="val 4903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683" y="2052743"/>
            <a:ext cx="2647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6265" y="2354907"/>
            <a:ext cx="2555400" cy="135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 21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Spring Boot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Maven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Spring Web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Spring Data JPA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59766" y="1875538"/>
            <a:ext cx="4272468" cy="2001260"/>
          </a:xfrm>
          <a:prstGeom prst="roundRect">
            <a:avLst>
              <a:gd name="adj" fmla="val 4760"/>
            </a:avLst>
          </a:prstGeom>
          <a:solidFill>
            <a:srgbClr val="FBFAF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8089" y="2058516"/>
            <a:ext cx="39714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IA / RAG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52671" y="2360681"/>
            <a:ext cx="3879293" cy="135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LangChain4j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OpenAI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text-embedding-3-small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gpt-4o-mini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PgVectorEmbeddingStore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94105" y="1872363"/>
            <a:ext cx="2981938" cy="2007610"/>
          </a:xfrm>
          <a:prstGeom prst="roundRect">
            <a:avLst>
              <a:gd name="adj" fmla="val 4903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9830" y="2052743"/>
            <a:ext cx="26476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Banco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4412" y="2354907"/>
            <a:ext cx="2555400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pgvector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957" y="4114887"/>
            <a:ext cx="2835455" cy="1613802"/>
          </a:xfrm>
          <a:prstGeom prst="roundRect">
            <a:avLst>
              <a:gd name="adj" fmla="val 6099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1683" y="4295267"/>
            <a:ext cx="2496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Infraestrutura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06265" y="4597431"/>
            <a:ext cx="2404522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10108" y="4114887"/>
            <a:ext cx="2835546" cy="1613802"/>
          </a:xfrm>
          <a:prstGeom prst="roundRect">
            <a:avLst>
              <a:gd name="adj" fmla="val 6099"/>
            </a:avLst>
          </a:prstGeom>
          <a:solidFill>
            <a:srgbClr val="FBFAF6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15834" y="4295267"/>
            <a:ext cx="24968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Testes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00416" y="4597431"/>
            <a:ext cx="2404615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JUnit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Mockito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01175" y="4111712"/>
            <a:ext cx="4578043" cy="1620152"/>
          </a:xfrm>
          <a:prstGeom prst="roundRect">
            <a:avLst>
              <a:gd name="adj" fmla="val 6271"/>
            </a:avLst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7029738" y="4289493"/>
            <a:ext cx="4244543" cy="52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RAG não é apenas gerar uma resposta com IA.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29738" y="4860813"/>
            <a:ext cx="4244543" cy="71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C4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qualidade e a segurança dependem de como a informação é recuperada, respeitando o cliente autorizado.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 com pgvector e Isolamento por Cliente">
  <a:themeElements>
    <a:clrScheme name="RAG com pgvector e Isolamento por Cliente">
      <a:dk1>
        <a:srgbClr val="0F1B2D"/>
      </a:dk1>
      <a:lt1>
        <a:srgbClr val="F4F1EA"/>
      </a:lt1>
      <a:dk2>
        <a:srgbClr val="263040"/>
      </a:dk2>
      <a:lt2>
        <a:srgbClr val="BBBCBB"/>
      </a:lt2>
      <a:accent1>
        <a:srgbClr val="0F766E"/>
      </a:accent1>
      <a:accent2>
        <a:srgbClr val="2DD4BF"/>
      </a:accent2>
      <a:accent3>
        <a:srgbClr val="F5B544"/>
      </a:accent3>
      <a:accent4>
        <a:srgbClr val="3A4D6B"/>
      </a:accent4>
      <a:accent5>
        <a:srgbClr val="8A5A12"/>
      </a:accent5>
      <a:accent6>
        <a:srgbClr val="C9C3B3"/>
      </a:accent6>
      <a:hlink>
        <a:srgbClr val="0563C1"/>
      </a:hlink>
      <a:folHlink>
        <a:srgbClr val="954F72"/>
      </a:folHlink>
    </a:clrScheme>
    <a:fontScheme name="RAG com pgvector e Isolamento por Cliente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com pgvector e Isolamento por Cliente</dc:title>
  <dc:subject/>
  <dc:creator/>
  <cp:lastModifiedBy/>
  <cp:revision>1</cp:revision>
  <dcterms:created xsi:type="dcterms:W3CDTF">2026-10-07T11:32:16Z</dcterms:created>
  <dcterms:modified xsi:type="dcterms:W3CDTF">2026-10-07T11:32:16Z</dcterms:modified>
</cp:coreProperties>
</file>